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Statistical Machine Learning Models on A Bank Marketing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Colorado State University, DSCI 445: Statistical Machine Learning, Dr.Andee Kaplan</a:t>
            </a:r>
            <a:br/>
            <a:br/>
            <a:r>
              <a:rPr/>
              <a:t>Sandra, Tigist, Mussa, Waddah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Motivation &amp;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The bank’s need for </a:t>
            </a:r>
            <a:r>
              <a:rPr b="1"/>
              <a:t>efficient marketing</a:t>
            </a:r>
            <a:r>
              <a:rPr/>
              <a:t> and the high cost of telemarketing campaigns. The goal is to maximize the success rate by predicting customer subscription.</a:t>
            </a:r>
          </a:p>
          <a:p>
            <a:pPr lvl="0"/>
            <a:r>
              <a:rPr b="1"/>
              <a:t>Discuss:</a:t>
            </a:r>
            <a:r>
              <a:rPr/>
              <a:t> The challenge of the </a:t>
            </a:r>
            <a:r>
              <a:rPr b="1"/>
              <a:t>rare positive class</a:t>
            </a:r>
            <a:r>
              <a:rPr/>
              <a:t> (imbalanced data) and why prediction accuracy is crucial for </a:t>
            </a:r>
            <a:r>
              <a:rPr b="1"/>
              <a:t>resource allocation</a:t>
            </a:r>
            <a:r>
              <a:rPr/>
              <a:t>.</a:t>
            </a:r>
          </a:p>
          <a:p>
            <a:pPr lvl="0"/>
            <a:r>
              <a:rPr b="1"/>
              <a:t>Image/Plot Idea:</a:t>
            </a:r>
            <a:r>
              <a:rPr/>
              <a:t> A simple, high-level infographic of a marketing campaign funnel, highlighting the bottleneck/drop-off point.</a:t>
            </a:r>
          </a:p>
          <a:p>
            <a:pPr lvl="0" indent="0" marL="0">
              <a:buNone/>
            </a:pPr>
            <a:r>
              <a:rPr/>
              <a:t>[Image of a marketing funnel illustrating customer conversion]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Bank Marketing Dataset (Slide 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Discuss:</a:t>
                </a:r>
                <a:r>
                  <a:rPr/>
                  <a:t> The dataset structure: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45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000</m:t>
                    </m:r>
                  </m:oMath>
                </a14:m>
                <a:r>
                  <a:rPr/>
                  <a:t> client observations from a Portuguese banking institution’s telemarketing campaigns.</a:t>
                </a:r>
              </a:p>
              <a:p>
                <a:pPr lvl="0"/>
                <a:r>
                  <a:rPr b="1"/>
                  <a:t>Discuss:</a:t>
                </a:r>
                <a:r>
                  <a:rPr/>
                  <a:t> Brief overview of the </a:t>
                </a:r>
                <a:r>
                  <a:rPr b="1"/>
                  <a:t>four main predictor categories</a:t>
                </a:r>
                <a:r>
                  <a:rPr/>
                  <a:t>: Demographics, Financial Indicators, Campaign Features, and Past Outcomes.</a:t>
                </a:r>
              </a:p>
              <a:p>
                <a:pPr lvl="0"/>
                <a:r>
                  <a:rPr b="1"/>
                  <a:t>Image/Plot Idea:</a:t>
                </a:r>
                <a:r>
                  <a:rPr/>
                  <a:t> A small table summarizing the number of observations and the list of the 4 key variable groups (e.g., Demographics, Financial, Campaign, Past).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 Variable &amp; Class Imbalance (Slide 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Discuss:</a:t>
                </a:r>
                <a:r>
                  <a:rPr/>
                  <a:t> The </a:t>
                </a:r>
                <a:r>
                  <a:rPr b="1"/>
                  <a:t>Target Variable (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 b="1"/>
                  <a:t>)</a:t>
                </a:r>
                <a:r>
                  <a:rPr/>
                  <a:t> is binary: Did the client subscribe to a term deposit (Yes/No)?</a:t>
                </a:r>
              </a:p>
              <a:p>
                <a:pPr lvl="0"/>
                <a:r>
                  <a:rPr b="1"/>
                  <a:t>Discuss:</a:t>
                </a:r>
                <a:r>
                  <a:rPr/>
                  <a:t> Emphasize the severity of the </a:t>
                </a:r>
                <a:r>
                  <a:rPr b="1"/>
                  <a:t>class imbalance</a:t>
                </a:r>
                <a:r>
                  <a:rPr/>
                  <a:t> (e.g., typically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11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‘Yes’ subscriptions). This means models must be evaluated beyond simple accuracy.</a:t>
                </a:r>
              </a:p>
              <a:p>
                <a:pPr lvl="0"/>
                <a:r>
                  <a:rPr b="1"/>
                  <a:t>Image/Plot Idea:</a:t>
                </a:r>
                <a:r>
                  <a:rPr/>
                  <a:t> A </a:t>
                </a:r>
                <a:r>
                  <a:rPr b="1"/>
                  <a:t>Bar Plot</a:t>
                </a:r>
                <a:r>
                  <a:rPr/>
                  <a:t> showing the distribution of the target variable (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), visually highlighting the imbalance.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 &amp; Key Assumptions (Slide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The project goal is </a:t>
            </a:r>
            <a:r>
              <a:rPr b="1"/>
              <a:t>Binary Classification</a:t>
            </a:r>
            <a:r>
              <a:rPr/>
              <a:t>: Building statistical models that are both </a:t>
            </a:r>
            <a:r>
              <a:rPr b="1"/>
              <a:t>predictive</a:t>
            </a:r>
            <a:r>
              <a:rPr/>
              <a:t> and </a:t>
            </a:r>
            <a:r>
              <a:rPr b="1"/>
              <a:t>interpretable</a:t>
            </a:r>
            <a:r>
              <a:rPr/>
              <a:t> for management.</a:t>
            </a:r>
          </a:p>
          <a:p>
            <a:pPr lvl="0"/>
            <a:r>
              <a:rPr b="1"/>
              <a:t>Discuss:</a:t>
            </a:r>
            <a:r>
              <a:rPr/>
              <a:t> Two key assumptions: Data observations are </a:t>
            </a:r>
            <a:r>
              <a:rPr b="1"/>
              <a:t>independent</a:t>
            </a:r>
            <a:r>
              <a:rPr/>
              <a:t> (no time-series methods), and we focus on </a:t>
            </a:r>
            <a:r>
              <a:rPr b="1"/>
              <a:t>course-covered models</a:t>
            </a:r>
            <a:r>
              <a:rPr/>
              <a:t> for direct comparison.</a:t>
            </a:r>
          </a:p>
          <a:p>
            <a:pPr lvl="0"/>
            <a:r>
              <a:rPr b="1"/>
              <a:t>Image/Plot Idea:</a:t>
            </a:r>
            <a:r>
              <a:rPr/>
              <a:t> An icon representing </a:t>
            </a:r>
            <a:r>
              <a:rPr b="1"/>
              <a:t>Predictive Power</a:t>
            </a:r>
            <a:r>
              <a:rPr/>
              <a:t> next to an icon representing </a:t>
            </a:r>
            <a:r>
              <a:rPr b="1"/>
              <a:t>Interpretability</a:t>
            </a:r>
            <a:r>
              <a:rPr/>
              <a:t> (The two core goals).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Methodology: Data Preparation (Slide 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Discuss:</a:t>
                </a:r>
                <a:r>
                  <a:rPr/>
                  <a:t> </a:t>
                </a:r>
                <a:r>
                  <a:rPr b="1"/>
                  <a:t>Data Wrangling</a:t>
                </a:r>
                <a:r>
                  <a:rPr/>
                  <a:t> involved converting categorical variables to factors and strategies for handling ‘unknown’ levels (treating them as a separate category vs. missing).</a:t>
                </a:r>
              </a:p>
              <a:p>
                <a:pPr lvl="0"/>
                <a:r>
                  <a:rPr b="1"/>
                  <a:t>Discuss:</a:t>
                </a:r>
                <a:r>
                  <a:rPr/>
                  <a:t> Established a </a:t>
                </a:r>
                <a:r>
                  <a:rPr b="1"/>
                  <a:t>train/test split</a:t>
                </a:r>
                <a:r>
                  <a:rPr/>
                  <a:t> (e.g., 70/30) to ensure models are evaluated on unseen data for a fair comparison of out-of-sample error.</a:t>
                </a:r>
              </a:p>
              <a:p>
                <a:pPr lvl="0"/>
                <a:r>
                  <a:rPr b="1"/>
                  <a:t>Image/Plot Idea:</a:t>
                </a:r>
                <a:r>
                  <a:rPr/>
                  <a:t> A simple flow chart showing: Raw Data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Wrangling/Cleaning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Train/Test Split.</a:t>
                </a:r>
              </a:p>
              <a:p>
                <a:pPr lvl="0" indent="0" marL="0">
                  <a:buNone/>
                </a:pPr>
                <a:r>
                  <a:rPr/>
                  <a:t>[Image of a data science workflow diagram]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Methodology: Models Selected (Slide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</a:t>
            </a:r>
            <a:r>
              <a:rPr b="1"/>
              <a:t>Logistic Regression:</a:t>
            </a:r>
            <a:r>
              <a:rPr/>
              <a:t> Chosen for its </a:t>
            </a:r>
            <a:r>
              <a:rPr b="1"/>
              <a:t>linearity</a:t>
            </a:r>
            <a:r>
              <a:rPr/>
              <a:t> and </a:t>
            </a:r>
            <a:r>
              <a:rPr b="1"/>
              <a:t>high interpretability</a:t>
            </a:r>
            <a:r>
              <a:rPr/>
              <a:t> (provides clear marketing insights via coefficients).</a:t>
            </a:r>
          </a:p>
          <a:p>
            <a:pPr lvl="0"/>
            <a:r>
              <a:rPr b="1"/>
              <a:t>Discuss:</a:t>
            </a:r>
            <a:r>
              <a:rPr/>
              <a:t> </a:t>
            </a:r>
            <a:r>
              <a:rPr b="1"/>
              <a:t>K-Nearest Neighbors (KNN):</a:t>
            </a:r>
            <a:r>
              <a:rPr/>
              <a:t> A </a:t>
            </a:r>
            <a:r>
              <a:rPr b="1"/>
              <a:t>non-parametric</a:t>
            </a:r>
            <a:r>
              <a:rPr/>
              <a:t> and </a:t>
            </a:r>
            <a:r>
              <a:rPr b="1"/>
              <a:t>flexible</a:t>
            </a:r>
            <a:r>
              <a:rPr/>
              <a:t> model to capture non-linearities, though sensitive to scale.</a:t>
            </a:r>
          </a:p>
          <a:p>
            <a:pPr lvl="0"/>
            <a:r>
              <a:rPr b="1"/>
              <a:t>Image/Plot Idea:</a:t>
            </a:r>
            <a:r>
              <a:rPr/>
              <a:t> A side-by-side visual comparing the conceptual difference between a linear boundary (LogReg) and a local, non-linear one (KNN).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Methodology: Ensemble/Advanced Models (Slide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</a:t>
            </a:r>
            <a:r>
              <a:rPr b="1"/>
              <a:t>Boosting (e.g., AdaBoost/Gradient Boosting):</a:t>
            </a:r>
            <a:r>
              <a:rPr/>
              <a:t> An ensemble method expected to provide the </a:t>
            </a:r>
            <a:r>
              <a:rPr b="1"/>
              <a:t>highest predictive accuracy</a:t>
            </a:r>
            <a:r>
              <a:rPr/>
              <a:t> by sequentially correcting errors of weak learners.</a:t>
            </a:r>
          </a:p>
          <a:p>
            <a:pPr lvl="0"/>
            <a:r>
              <a:rPr b="1"/>
              <a:t>Discuss:</a:t>
            </a:r>
            <a:r>
              <a:rPr/>
              <a:t> </a:t>
            </a:r>
            <a:r>
              <a:rPr b="1"/>
              <a:t>Model Training Strategy:</a:t>
            </a:r>
            <a:r>
              <a:rPr/>
              <a:t> All models used </a:t>
            </a:r>
            <a:r>
              <a:rPr b="1"/>
              <a:t>k-fold Cross-Validation</a:t>
            </a:r>
            <a:r>
              <a:rPr/>
              <a:t> (CV) on the training set to prevent overfitting and select optimal hyperparameters.</a:t>
            </a:r>
          </a:p>
          <a:p>
            <a:pPr lvl="0"/>
            <a:r>
              <a:rPr b="1"/>
              <a:t>Image/Plot Idea:</a:t>
            </a:r>
            <a:r>
              <a:rPr/>
              <a:t> A conceptual diagram illustrating the boosting process (e.g., weak learners combining to form a strong learner).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Tuning &amp; Validation Details (Slide 8)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Discuss:</a:t>
                </a:r>
                <a:r>
                  <a:rPr/>
                  <a:t> Mentioned specific tuning steps: </a:t>
                </a:r>
                <a:r>
                  <a:rPr b="1"/>
                  <a:t>Hyperparameter tuning</a:t>
                </a:r>
                <a:r>
                  <a:rPr/>
                  <a:t> (e.g., finding optimal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for KNN) and </a:t>
                </a:r>
                <a:r>
                  <a:rPr b="1"/>
                  <a:t>Feature Selection</a:t>
                </a:r>
                <a:r>
                  <a:rPr/>
                  <a:t> (e.g., stepwise for LogReg) to simplify models.</a:t>
                </a:r>
              </a:p>
              <a:p>
                <a:pPr lvl="0"/>
                <a:r>
                  <a:rPr b="1"/>
                  <a:t>Discuss:</a:t>
                </a:r>
                <a:r>
                  <a:rPr/>
                  <a:t> For models like LogReg, we also explored </a:t>
                </a:r>
                <a:r>
                  <a:rPr b="1"/>
                  <a:t>Regularization</a:t>
                </a:r>
                <a:r>
                  <a:rPr/>
                  <a:t> (Ridge/Lasso) to prevent overfitting and improve generalization.</a:t>
                </a:r>
              </a:p>
              <a:p>
                <a:pPr lvl="0"/>
                <a:r>
                  <a:rPr b="1"/>
                  <a:t>Image/Plot Idea:</a:t>
                </a:r>
                <a:r>
                  <a:rPr/>
                  <a:t> A plot showing CV error vs. 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(for KNN) or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(for Lasso/Ridge) to demonstrate hyperparameter selection.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Results: Model Evaluation Metrics (Slide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Primary metrics are </a:t>
            </a:r>
            <a:r>
              <a:rPr b="1"/>
              <a:t>Test Error Rate</a:t>
            </a:r>
            <a:r>
              <a:rPr/>
              <a:t> and </a:t>
            </a:r>
            <a:r>
              <a:rPr b="1"/>
              <a:t>AUC (Area Under the ROC Curve)</a:t>
            </a:r>
            <a:r>
              <a:rPr/>
              <a:t>, which are robust to class imbalance.</a:t>
            </a:r>
          </a:p>
          <a:p>
            <a:pPr lvl="0"/>
            <a:r>
              <a:rPr b="1"/>
              <a:t>Discuss:</a:t>
            </a:r>
            <a:r>
              <a:rPr/>
              <a:t> Also emphasize </a:t>
            </a:r>
            <a:r>
              <a:rPr b="1"/>
              <a:t>Recall</a:t>
            </a:r>
            <a:r>
              <a:rPr/>
              <a:t> (sensitivity) because identifying the few ‘Yes’ subscribers is more critical than high accuracy on the majority ‘No’ class.</a:t>
            </a:r>
          </a:p>
          <a:p>
            <a:pPr lvl="0"/>
            <a:r>
              <a:rPr b="1"/>
              <a:t>Image/Plot Idea:</a:t>
            </a:r>
            <a:r>
              <a:rPr/>
              <a:t> A visual diagram of a </a:t>
            </a:r>
            <a:r>
              <a:rPr b="1"/>
              <a:t>Confusion Matrix</a:t>
            </a:r>
            <a:r>
              <a:rPr/>
              <a:t>, highlighting the meaning of True Positives (TP) and False Negatives (FN).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Results: Performance Comparison (Slide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Present the </a:t>
            </a:r>
            <a:r>
              <a:rPr b="1"/>
              <a:t>final performance comparison</a:t>
            </a:r>
            <a:r>
              <a:rPr/>
              <a:t>, identifying the model with the lowest Test Error/Highest AUC (e.g., </a:t>
            </a:r>
            <a:r>
              <a:rPr b="1"/>
              <a:t>Boosting</a:t>
            </a:r>
            <a:r>
              <a:rPr/>
              <a:t>).</a:t>
            </a:r>
          </a:p>
          <a:p>
            <a:pPr lvl="0"/>
            <a:r>
              <a:rPr b="1"/>
              <a:t>Discuss:</a:t>
            </a:r>
            <a:r>
              <a:rPr/>
              <a:t> Acknowledge the trade-off: The </a:t>
            </a:r>
            <a:r>
              <a:rPr b="1"/>
              <a:t>best predictive model</a:t>
            </a:r>
            <a:r>
              <a:rPr/>
              <a:t> may not be the </a:t>
            </a:r>
            <a:r>
              <a:rPr b="1"/>
              <a:t>most interpretable</a:t>
            </a:r>
            <a:r>
              <a:rPr/>
              <a:t>.</a:t>
            </a:r>
          </a:p>
          <a:p>
            <a:pPr lvl="0"/>
            <a:r>
              <a:rPr b="1"/>
              <a:t>Image/Plot Idea:</a:t>
            </a:r>
            <a:r>
              <a:rPr/>
              <a:t> A </a:t>
            </a:r>
            <a:r>
              <a:rPr b="1"/>
              <a:t>Table</a:t>
            </a:r>
            <a:r>
              <a:rPr/>
              <a:t> or </a:t>
            </a:r>
            <a:r>
              <a:rPr b="1"/>
              <a:t>Bar Chart</a:t>
            </a:r>
            <a:r>
              <a:rPr/>
              <a:t> summarizing AUC, Accuracy, and Recall for </a:t>
            </a:r>
            <a:r>
              <a:rPr b="1"/>
              <a:t>Logistic Regression</a:t>
            </a:r>
            <a:r>
              <a:rPr/>
              <a:t>, </a:t>
            </a:r>
            <a:r>
              <a:rPr b="1"/>
              <a:t>KNN</a:t>
            </a:r>
            <a:r>
              <a:rPr/>
              <a:t>, and </a:t>
            </a:r>
            <a:r>
              <a:rPr b="1"/>
              <a:t>Boosting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Results: ROC Curve Analysis (Slide 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A visual comparison of models using the </a:t>
            </a:r>
            <a:r>
              <a:rPr b="1"/>
              <a:t>Receiver Operating Characteristic (ROC) Curve</a:t>
            </a:r>
            <a:r>
              <a:rPr/>
              <a:t>. A curve closer to the top-left is better.</a:t>
            </a:r>
          </a:p>
          <a:p>
            <a:pPr lvl="0"/>
            <a:r>
              <a:rPr b="1"/>
              <a:t>Discuss:</a:t>
            </a:r>
            <a:r>
              <a:rPr/>
              <a:t> This curve provides insight into how each model balances the </a:t>
            </a:r>
            <a:r>
              <a:rPr b="1"/>
              <a:t>True Positive Rate</a:t>
            </a:r>
            <a:r>
              <a:rPr/>
              <a:t> (Recall) vs. </a:t>
            </a:r>
            <a:r>
              <a:rPr b="1"/>
              <a:t>False Positive Rate</a:t>
            </a:r>
            <a:r>
              <a:rPr/>
              <a:t>.</a:t>
            </a:r>
          </a:p>
          <a:p>
            <a:pPr lvl="0"/>
            <a:r>
              <a:rPr b="1"/>
              <a:t>Image/Plot Idea:</a:t>
            </a:r>
            <a:r>
              <a:rPr/>
              <a:t> The final </a:t>
            </a:r>
            <a:r>
              <a:rPr b="1"/>
              <a:t>ROC Curve plot</a:t>
            </a:r>
            <a:r>
              <a:rPr/>
              <a:t> comparing the performance of all tested models.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Discussion: Interpreting the Best Model (Slide 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Focus on the </a:t>
            </a:r>
            <a:r>
              <a:rPr b="1"/>
              <a:t>most interpretable model (Logistic Regression)</a:t>
            </a:r>
            <a:r>
              <a:rPr/>
              <a:t>—what were the key coefficients/insights? (e.g., ‘Duration of last contact’ is a strong predictor).</a:t>
            </a:r>
          </a:p>
          <a:p>
            <a:pPr lvl="0"/>
            <a:r>
              <a:rPr b="1"/>
              <a:t>Discuss:</a:t>
            </a:r>
            <a:r>
              <a:rPr/>
              <a:t> Discuss how these feature importances can be directly translated into </a:t>
            </a:r>
            <a:r>
              <a:rPr b="1"/>
              <a:t>actionable marketing strategies</a:t>
            </a:r>
            <a:r>
              <a:rPr/>
              <a:t> for the bank.</a:t>
            </a:r>
          </a:p>
          <a:p>
            <a:pPr lvl="0"/>
            <a:r>
              <a:rPr b="1"/>
              <a:t>Image/Plot Idea:</a:t>
            </a:r>
            <a:r>
              <a:rPr/>
              <a:t> A </a:t>
            </a:r>
            <a:r>
              <a:rPr b="1"/>
              <a:t>Feature Importance Plot</a:t>
            </a:r>
            <a:r>
              <a:rPr/>
              <a:t> (for Boosting) or a </a:t>
            </a:r>
            <a:r>
              <a:rPr b="1"/>
              <a:t>Coefficient Plot</a:t>
            </a:r>
            <a:r>
              <a:rPr/>
              <a:t> (for LogReg), highlighting the top 3-5 most influential variables.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Discussion: Business Impact (Slide 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How the </a:t>
            </a:r>
            <a:r>
              <a:rPr b="1"/>
              <a:t>chosen model</a:t>
            </a:r>
            <a:r>
              <a:rPr/>
              <a:t> (Balancing performance and interpretability) can lead to </a:t>
            </a:r>
            <a:r>
              <a:rPr b="1"/>
              <a:t>cost savings</a:t>
            </a:r>
            <a:r>
              <a:rPr/>
              <a:t> and </a:t>
            </a:r>
            <a:r>
              <a:rPr b="1"/>
              <a:t>higher ROI</a:t>
            </a:r>
            <a:r>
              <a:rPr/>
              <a:t> for future campaigns.</a:t>
            </a:r>
          </a:p>
          <a:p>
            <a:pPr lvl="0"/>
            <a:r>
              <a:rPr b="1"/>
              <a:t>Discuss:</a:t>
            </a:r>
            <a:r>
              <a:rPr/>
              <a:t> Briefly touch upon </a:t>
            </a:r>
            <a:r>
              <a:rPr b="1"/>
              <a:t>regulatory/ethical implications</a:t>
            </a:r>
            <a:r>
              <a:rPr/>
              <a:t> in banking and the need to justify predictions (further supporting the value of interpretability).</a:t>
            </a:r>
          </a:p>
          <a:p>
            <a:pPr lvl="0"/>
            <a:r>
              <a:rPr b="1"/>
              <a:t>Image/Plot Idea:</a:t>
            </a:r>
            <a:r>
              <a:rPr/>
              <a:t> A currency symbol or a bar chart showing the conceptual increase in ROI due to better targeting.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Discussion: Limitations &amp; Future Work (Slide 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Acknowledge limitations, such as not using </a:t>
            </a:r>
            <a:r>
              <a:rPr b="1"/>
              <a:t>time-series analysis</a:t>
            </a:r>
            <a:r>
              <a:rPr/>
              <a:t> or fully accounting for the dependency of the ‘duration’ feature.</a:t>
            </a:r>
          </a:p>
          <a:p>
            <a:pPr lvl="0"/>
            <a:r>
              <a:rPr b="1"/>
              <a:t>Discuss:</a:t>
            </a:r>
            <a:r>
              <a:rPr/>
              <a:t> Suggest future improvements: Exploring advanced techniques like </a:t>
            </a:r>
            <a:r>
              <a:rPr b="1"/>
              <a:t>resampling methods</a:t>
            </a:r>
            <a:r>
              <a:rPr/>
              <a:t> (SMOTE) to handle imbalance better or trying </a:t>
            </a:r>
            <a:r>
              <a:rPr b="1"/>
              <a:t>Deep Learning</a:t>
            </a:r>
            <a:r>
              <a:rPr/>
              <a:t> models.</a:t>
            </a:r>
          </a:p>
          <a:p>
            <a:pPr lvl="0"/>
            <a:r>
              <a:rPr b="1"/>
              <a:t>Image/Plot Idea:</a:t>
            </a:r>
            <a:r>
              <a:rPr/>
              <a:t> A bulleted list of 2-3 </a:t>
            </a:r>
            <a:r>
              <a:rPr b="1"/>
              <a:t>future research questions</a:t>
            </a:r>
            <a:r>
              <a:rPr/>
              <a:t> (e.g., Time-Series, SMOTE, Deep Learning).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 (Slide 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Discuss:</a:t>
            </a:r>
            <a:r>
              <a:rPr/>
              <a:t> Simply list the required references for the data source and any major methodology papers.</a:t>
            </a:r>
          </a:p>
          <a:p>
            <a:pPr lvl="0"/>
            <a:r>
              <a:rPr b="1"/>
              <a:t>Discuss:</a:t>
            </a:r>
            <a:r>
              <a:rPr/>
              <a:t> Provide contact information for questions.</a:t>
            </a:r>
          </a:p>
          <a:p>
            <a:pPr lvl="0"/>
            <a:r>
              <a:rPr b="1"/>
              <a:t>Image/Plot Idea:</a:t>
            </a:r>
            <a:r>
              <a:rPr/>
              <a:t> The official UCI ML Repository logo and your contact email.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Machine Learning Models on A Bank Marketing dataset</dc:title>
  <dc:creator>Sandra, Tigist, Mussa, Waddah</dc:creator>
  <cp:keywords/>
  <dcterms:created xsi:type="dcterms:W3CDTF">2025-12-06T23:25:25Z</dcterms:created>
  <dcterms:modified xsi:type="dcterms:W3CDTF">2025-12-06T23:25:25Z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>powerpoint_presentation</vt:lpwstr>
  </property>
  <property fmtid="{D5CDD505-2E9C-101B-9397-08002B2CF9AE}" pid="3" name="subtitle">
    <vt:lpwstr>Colorado State University, DSCI 445: Statistical Machine Learning, Dr.Andee Kaplan</vt:lpwstr>
  </property>
</Properties>
</file>